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3351e7900c4447" /><Relationship Type="http://schemas.openxmlformats.org/officeDocument/2006/relationships/extended-properties" Target="/docProps/app.xml" Id="R5375d4a262254745" /><Relationship Type="http://schemas.openxmlformats.org/officeDocument/2006/relationships/officeDocument" Target="/ppt/presentation.xml" Id="Ref90deff166d40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6abddebbe84fa2"/>
  </p:sldMasterIdLst>
  <p:notesMasterIdLst>
    <p:notesMasterId xmlns:r="http://schemas.openxmlformats.org/officeDocument/2006/relationships" r:id="R761f80a7ec99444b"/>
  </p:notesMasterIdLst>
  <p:sldIdLst>
    <p:sldId xmlns:r="http://schemas.openxmlformats.org/officeDocument/2006/relationships" id="256" r:id="Rb641f4777df74083"/>
    <p:sldId xmlns:r="http://schemas.openxmlformats.org/officeDocument/2006/relationships" id="257" r:id="Rd9473d216ab5411e"/>
    <p:sldId xmlns:r="http://schemas.openxmlformats.org/officeDocument/2006/relationships" id="258" r:id="Ra64e71c7942e40f9"/>
    <p:sldId xmlns:r="http://schemas.openxmlformats.org/officeDocument/2006/relationships" id="259" r:id="R0d4985a1b98945e1"/>
    <p:sldId xmlns:r="http://schemas.openxmlformats.org/officeDocument/2006/relationships" id="260" r:id="R4a8ebf0e4a5f4150"/>
    <p:sldId xmlns:r="http://schemas.openxmlformats.org/officeDocument/2006/relationships" id="261" r:id="R73619ba41a034dae"/>
    <p:sldId xmlns:r="http://schemas.openxmlformats.org/officeDocument/2006/relationships" id="262" r:id="R86ec558ebd9e4b73"/>
    <p:sldId xmlns:r="http://schemas.openxmlformats.org/officeDocument/2006/relationships" id="263" r:id="Rfd350cb83b4b4016"/>
    <p:sldId xmlns:r="http://schemas.openxmlformats.org/officeDocument/2006/relationships" id="264" r:id="Rd864a5f02e324127"/>
    <p:sldId xmlns:r="http://schemas.openxmlformats.org/officeDocument/2006/relationships" id="265" r:id="Rf988ea4114144814"/>
    <p:sldId xmlns:r="http://schemas.openxmlformats.org/officeDocument/2006/relationships" id="266" r:id="R0a4bde91958242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b03c7ca964424d" /><Relationship Type="http://schemas.openxmlformats.org/officeDocument/2006/relationships/slideMaster" Target="/ppt/slideMasters/slideMaster1.xml" Id="R686abddebbe84fa2" /><Relationship Type="http://schemas.openxmlformats.org/officeDocument/2006/relationships/notesMaster" Target="/ppt/notesMasters/notesMaster1.xml" Id="R761f80a7ec99444b" /><Relationship Type="http://schemas.openxmlformats.org/officeDocument/2006/relationships/presProps" Target="/ppt/presProps.xml" Id="R924e89e42964438a" /><Relationship Type="http://schemas.openxmlformats.org/officeDocument/2006/relationships/tableStyles" Target="/ppt/tableStyles.xml" Id="R29656dde85164247" /><Relationship Type="http://schemas.openxmlformats.org/officeDocument/2006/relationships/slide" Target="/ppt/slides/slide1.xml" Id="Rb641f4777df74083" /><Relationship Type="http://schemas.openxmlformats.org/officeDocument/2006/relationships/slide" Target="/ppt/slides/slide2.xml" Id="Rd9473d216ab5411e" /><Relationship Type="http://schemas.openxmlformats.org/officeDocument/2006/relationships/slide" Target="/ppt/slides/slide3.xml" Id="Ra64e71c7942e40f9" /><Relationship Type="http://schemas.openxmlformats.org/officeDocument/2006/relationships/slide" Target="/ppt/slides/slide4.xml" Id="R0d4985a1b98945e1" /><Relationship Type="http://schemas.openxmlformats.org/officeDocument/2006/relationships/slide" Target="/ppt/slides/slide5.xml" Id="R4a8ebf0e4a5f4150" /><Relationship Type="http://schemas.openxmlformats.org/officeDocument/2006/relationships/slide" Target="/ppt/slides/slide6.xml" Id="R73619ba41a034dae" /><Relationship Type="http://schemas.openxmlformats.org/officeDocument/2006/relationships/slide" Target="/ppt/slides/slide7.xml" Id="R86ec558ebd9e4b73" /><Relationship Type="http://schemas.openxmlformats.org/officeDocument/2006/relationships/slide" Target="/ppt/slides/slide8.xml" Id="Rfd350cb83b4b4016" /><Relationship Type="http://schemas.openxmlformats.org/officeDocument/2006/relationships/slide" Target="/ppt/slides/slide9.xml" Id="Rd864a5f02e324127" /><Relationship Type="http://schemas.openxmlformats.org/officeDocument/2006/relationships/slide" Target="/ppt/slides/slide10.xml" Id="Rf988ea4114144814" /><Relationship Type="http://schemas.openxmlformats.org/officeDocument/2006/relationships/slide" Target="/ppt/slides/slide11.xml" Id="R0a4bde91958242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aca3e8491c44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9de4c0320141ee" /><Relationship Type="http://schemas.openxmlformats.org/officeDocument/2006/relationships/notesMaster" Target="/ppt/notesMasters/notesMaster1.xml" Id="Rbfcbcadf09e64c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2ca91d5039449d" /><Relationship Type="http://schemas.openxmlformats.org/officeDocument/2006/relationships/notesMaster" Target="/ppt/notesMasters/notesMaster1.xml" Id="R93b0e9fc3fd141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e58b47d9a24d52" /><Relationship Type="http://schemas.openxmlformats.org/officeDocument/2006/relationships/notesMaster" Target="/ppt/notesMasters/notesMaster1.xml" Id="Rb24b4e62b6be47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22e40e14a44b51" /><Relationship Type="http://schemas.openxmlformats.org/officeDocument/2006/relationships/notesMaster" Target="/ppt/notesMasters/notesMaster1.xml" Id="R5e47d9e550854f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437bd25cd14165" /><Relationship Type="http://schemas.openxmlformats.org/officeDocument/2006/relationships/notesMaster" Target="/ppt/notesMasters/notesMaster1.xml" Id="R300f440033834c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bd47f6e5a84dae" /><Relationship Type="http://schemas.openxmlformats.org/officeDocument/2006/relationships/notesMaster" Target="/ppt/notesMasters/notesMaster1.xml" Id="R80567e8bb2e54c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caa4bf29674038" /><Relationship Type="http://schemas.openxmlformats.org/officeDocument/2006/relationships/notesMaster" Target="/ppt/notesMasters/notesMaster1.xml" Id="R0463cb2ef24741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a73fd5db694637" /><Relationship Type="http://schemas.openxmlformats.org/officeDocument/2006/relationships/notesMaster" Target="/ppt/notesMasters/notesMaster1.xml" Id="Rbfdc798329094c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6293917224480e" /><Relationship Type="http://schemas.openxmlformats.org/officeDocument/2006/relationships/notesMaster" Target="/ppt/notesMasters/notesMaster1.xml" Id="Reea68dd746ad48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a0136cdcec4af2" /><Relationship Type="http://schemas.openxmlformats.org/officeDocument/2006/relationships/notesMaster" Target="/ppt/notesMasters/notesMaster1.xml" Id="R3f77ae7b7b3c49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4237022c374bca" /><Relationship Type="http://schemas.openxmlformats.org/officeDocument/2006/relationships/notesMaster" Target="/ppt/notesMasters/notesMaster1.xml" Id="R9129fc48ac2c4c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image: generated specifically for this SabiSafe pitch deck. It represents a fictional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Nigeria Inter-Bank Settlement System, “Digital payment fraud drops 51% to N25.85b,” 22 January 2026. https://nibss-plc.com.ng/digital-payment-fraud-drops-51-to-n25-85b-lagos-accounts-for-63/</a:t>
            </a:r>
          </a:p>
          <a:p xmlns:a="http://schemas.openxmlformats.org/drawingml/2006/main">
            <a:r>
              <a:t>Source: Central Bank of Nigeria, Draft Guidelines for Handling Authorised Push Payment Fraud. https://www.cbn.gov.ng/Out/2025/CCD/DRAFT%20GUIDELINES%20FOR%20HANDLING%20AUTHORISED%20PUSH%20PAYMENT%20FRAUD.pdf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SabiSafe product implementation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SabiSafe product implementation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src/security pipeline, evidence types and risk policy in the SabiSafe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SabiSafe Link Guard and Supabase Edge Function implementation.</a:t>
            </a:r>
          </a:p>
          <a:p xmlns:a="http://schemas.openxmlformats.org/drawingml/2006/main">
            <a:r>
              <a:t>Google Cloud Web Risk lookup documentation: https://docs.cloud.google.com/web-risk/docs/lookup-api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repository state and SabiSafe project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model and market-entry assumptions prepared for this pitch deck. They require validation through paid pilots.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pricing assumptions. No customer contracts or validated willingness-to-pay data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management planning case. Figures are assumptions, not historical performance or a forecast.</a:t>
            </a:r>
          </a:p>
          <a:p xmlns:a="http://schemas.openxmlformats.org/drawingml/2006/main">
            <a:r>
              <a:t>Year 1: ₦12m pilots + ₦36m licences + ₦15m family = ₦63m.</a:t>
            </a:r>
          </a:p>
          <a:p xmlns:a="http://schemas.openxmlformats.org/drawingml/2006/main">
            <a:r>
              <a:t>Year 2: ₦18m pilots + ₦144m licences + ₦75m family + ₦24m API = ₦261m.</a:t>
            </a:r>
          </a:p>
          <a:p xmlns:a="http://schemas.openxmlformats.org/drawingml/2006/main">
            <a:r>
              <a:t>Year 3: ₦30m pilots + ₦360m licences + ₦300m family + ₦96m API = ₦786m.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fundraising and execution plan. Replace with approved founder targets before external circulation.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39b36705445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3169094d8a4fc0" /><Relationship Type="http://schemas.openxmlformats.org/officeDocument/2006/relationships/slideLayout" Target="/ppt/slideLayouts/slideLayout1.xml" Id="Rad603f521fed43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603f521fed43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752b362f248a2" /><Relationship Type="http://schemas.openxmlformats.org/officeDocument/2006/relationships/image" Target="/ppt/media/image.png" Id="Raa3cf83fdf004848" /><Relationship Type="http://schemas.openxmlformats.org/officeDocument/2006/relationships/image" Target="/ppt/media/image2.png" Id="Rf4fab2151908496b" /><Relationship Type="http://schemas.openxmlformats.org/officeDocument/2006/relationships/notesSlide" Target="/ppt/notesSlides/notesSlide1.xml" Id="R67b0e07eb7394d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5eb62bc68409c" /><Relationship Type="http://schemas.openxmlformats.org/officeDocument/2006/relationships/image" Target="/ppt/media/image3.png" Id="R59539ad4e0cb4a4f" /><Relationship Type="http://schemas.openxmlformats.org/officeDocument/2006/relationships/notesSlide" Target="/ppt/notesSlides/notesSlide2.xml" Id="R8a423acf547145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4c519d35447ad" /><Relationship Type="http://schemas.openxmlformats.org/officeDocument/2006/relationships/image" Target="/ppt/media/image4.png" Id="R25b607418c6c43f1" /><Relationship Type="http://schemas.openxmlformats.org/officeDocument/2006/relationships/notesSlide" Target="/ppt/notesSlides/notesSlide3.xml" Id="R806dda584b2f45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f0e502005432b" /><Relationship Type="http://schemas.openxmlformats.org/officeDocument/2006/relationships/image" Target="/ppt/media/image5.png" Id="Rf79183f1aeda49c3" /><Relationship Type="http://schemas.openxmlformats.org/officeDocument/2006/relationships/notesSlide" Target="/ppt/notesSlides/notesSlide4.xml" Id="Re2e7e00661e142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65a01018a4d45" /><Relationship Type="http://schemas.openxmlformats.org/officeDocument/2006/relationships/image" Target="/ppt/media/image6.png" Id="Rfb569dc6d73c4aaa" /><Relationship Type="http://schemas.openxmlformats.org/officeDocument/2006/relationships/notesSlide" Target="/ppt/notesSlides/notesSlide5.xml" Id="R2c4cb029c40e4f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0877e2d7144e1" /><Relationship Type="http://schemas.openxmlformats.org/officeDocument/2006/relationships/image" Target="/ppt/media/image7.png" Id="Rfa54bcbec988402a" /><Relationship Type="http://schemas.openxmlformats.org/officeDocument/2006/relationships/notesSlide" Target="/ppt/notesSlides/notesSlide6.xml" Id="Rd47af86ba08446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bb20043a84449" /><Relationship Type="http://schemas.openxmlformats.org/officeDocument/2006/relationships/image" Target="/ppt/media/image8.png" Id="Rfe86d60df9d5421e" /><Relationship Type="http://schemas.openxmlformats.org/officeDocument/2006/relationships/notesSlide" Target="/ppt/notesSlides/notesSlide7.xml" Id="R25b599e665b046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7467fa2fe46de" /><Relationship Type="http://schemas.openxmlformats.org/officeDocument/2006/relationships/image" Target="/ppt/media/image9.png" Id="R1f8c5c41307441bb" /><Relationship Type="http://schemas.openxmlformats.org/officeDocument/2006/relationships/notesSlide" Target="/ppt/notesSlides/notesSlide8.xml" Id="Rae5109896ea546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bd132af9349cd" /><Relationship Type="http://schemas.openxmlformats.org/officeDocument/2006/relationships/image" Target="/ppt/media/image10.png" Id="R87c267c2d1b04c5c" /><Relationship Type="http://schemas.openxmlformats.org/officeDocument/2006/relationships/notesSlide" Target="/ppt/notesSlides/notesSlide9.xml" Id="R7ba12aa26aac4d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1989ab07b402e" /><Relationship Type="http://schemas.openxmlformats.org/officeDocument/2006/relationships/image" Target="/ppt/media/image11.png" Id="Rac5322f7fbba4b34" /><Relationship Type="http://schemas.openxmlformats.org/officeDocument/2006/relationships/chart" Target="/ppt/slides/charts/chart1.xml" Id="R5d24a26e1f9e4868" /><Relationship Type="http://schemas.openxmlformats.org/officeDocument/2006/relationships/notesSlide" Target="/ppt/notesSlides/notesSlide10.xml" Id="R93621962fb9d4c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bc33d6f104456" /><Relationship Type="http://schemas.openxmlformats.org/officeDocument/2006/relationships/image" Target="/ppt/media/image12.png" Id="Rcde5672504a04dda" /><Relationship Type="http://schemas.openxmlformats.org/officeDocument/2006/relationships/notesSlide" Target="/ppt/notesSlides/notesSlide11.xml" Id="R87aaf79eea2d45b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5569E8"/>
            </a:solidFill>
          </c:spPr>
          <c:cat>
            <c:strLit>
              <c:ptCount val="3"/>
              <c:pt idx="0">
                <c:v>Year 1</c:v>
              </c:pt>
              <c:pt idx="1">
                <c:v>Year 2</c:v>
              </c:pt>
              <c:pt idx="2">
                <c:v>Year 3</c:v>
              </c:pt>
            </c:strLit>
          </c:cat>
          <c:val>
            <c:numLit>
              <c:formatCode>0"m"</c:formatCode>
              <c:ptCount val="3"/>
              <c:pt idx="0">
                <c:v>63</c:v>
              </c:pt>
              <c:pt idx="1">
                <c:v>261</c:v>
              </c:pt>
              <c:pt idx="2">
                <c:v>786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3162B"/>
                  </a:solidFill>
                  <a:latin typeface="Inter"/>
                  <a:ea typeface="Inter"/>
                  <a:cs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cf83fdf00484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85050-6D06-4A81-928F-510FD7FB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E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ab2151908496b"/>
          <a:stretch xmlns:a="http://schemas.openxmlformats.org/drawingml/2006/main"/>
        </p:blipFill>
        <p:spPr>
          <a:xfrm xmlns:a="http://schemas.openxmlformats.org/drawingml/2006/main">
            <a:off x="666750" y="5905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FC49B-C486-468F-814B-75C982FC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53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SabiSafe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0A19A-3333-4B1A-B540-47419765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0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Scam decisions deserve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 second opinion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27865-6B12-41E9-B13E-3774ED37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01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DFF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D9DFFD"/>
                </a:solidFill>
                <a:latin typeface="Inter"/>
                <a:ea typeface="Inter"/>
                <a:cs typeface="Inter"/>
              </a:rPr>
              <a:t>Mobile-first scam safety for Nigerian consumers and the institutions that protect them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1E1E6-B914-4B7D-8F2A-88A2A053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2098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6D02D-6D95-4B35-BEC7-8202D5A5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PAID PROTECTION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76A7A-B4DC-4302-BDC3-C43B33D0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8E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AEB8E9"/>
                </a:solidFill>
                <a:latin typeface="Inter"/>
                <a:ea typeface="Inter"/>
                <a:cs typeface="Inter"/>
              </a:rPr>
              <a:t>Pitch deck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10103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39ad4e0cb4a4f"/>
          <a:stretch xmlns:a="http://schemas.openxmlformats.org/drawingml/2006/main"/>
        </p:blipFill>
        <p:spPr>
          <a:xfrm xmlns:a="http://schemas.openxmlformats.org/drawingml/2006/main">
            <a:off x="552450" y="3905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E3183-FEEC-4115-8024-1B65BF12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SabiSafe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245FE-D6B0-4A08-951B-CDC06317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5D6478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4352D-50C7-42B5-9FF2-0E4DD894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74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Digital trust breaks at the moment of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8DD1E-CD3E-40FB-BD2A-0D6CECEA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Fraudsters reach people before a bank or platform can intervene.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2FFD0-B43D-49F0-B2C5-21792403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5048250" cy="3105150"/>
          </a:xfrm>
          <a:prstGeom xmlns:a="http://schemas.openxmlformats.org/drawingml/2006/main" prst="roundRect">
            <a:avLst>
              <a:gd name="adj" fmla="val 9202"/>
            </a:avLst>
          </a:prstGeom>
          <a:solidFill xmlns:a="http://schemas.openxmlformats.org/drawingml/2006/main">
            <a:srgbClr val="090E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D7D80-91C6-4388-B194-2A42FF2B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8E9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AEB8E9"/>
                </a:solidFill>
                <a:latin typeface="Inter"/>
                <a:ea typeface="Inter"/>
                <a:cs typeface="Inter"/>
              </a:rPr>
              <a:t>SCALE OF THE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A4466-1AE4-4C4B-9EB6-889620B6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9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₦25.85bn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05196-1DAF-4956-B357-33FAD82B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DFFD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D9DFFD"/>
                </a:solidFill>
                <a:latin typeface="Inter"/>
                <a:ea typeface="Inter"/>
                <a:cs typeface="Inter"/>
              </a:rPr>
              <a:t>reported Nigerian digital-payment fraud losses in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E4D17-E71E-4012-848B-2A2DC0AD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8E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AEB8E9"/>
                </a:solidFill>
                <a:latin typeface="Inter"/>
                <a:ea typeface="Inter"/>
                <a:cs typeface="Inter"/>
              </a:rPr>
              <a:t>Losses fell from 2024, but the value at risk remains material.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8C89A-4053-40C0-814A-293E7E92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THE DECISION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5120A-D4B5-49BC-A74A-D73D56AB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The customer sees the scam 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789E5-6ED7-461D-A321-664C4383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9525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E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53A96-19FB-4199-AC7E-DD5B5C8E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194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MESSAGE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9EF78-D146-4FB6-ABBE-A7BFCBB6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432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Urgency and impersonation create pressure.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01903-422F-45CF-8F6E-8FB527CD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9525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E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7053B-A1B8-4A0B-8C7B-7B03E306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433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8FFAA-0D1C-4937-9A88-B2662BF5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671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A copied logo hides a lookalike domain.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C7639-3533-4781-ADEF-15634619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9525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CC5F26-E679-49FA-A7F3-E7A369FE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672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465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D8465B"/>
                </a:solidFill>
                <a:latin typeface="Inter"/>
                <a:ea typeface="Inter"/>
                <a:cs typeface="Inter"/>
              </a:rPr>
              <a:t>PAYMENT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24ECC-ED04-479D-88E2-64F47AA9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910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The victim authorises the transfer themselves.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26A025-964F-46DC-8CC4-B59CFA21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1119EE-C9DA-4E11-8D67-F2235617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193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B8193"/>
                </a:solidFill>
                <a:latin typeface="Inter"/>
                <a:ea typeface="Inter"/>
                <a:cs typeface="Inter"/>
              </a:rPr>
              <a:t>Sources: NIBSS 2025 fraud reporting; CBN draft guidelines on authorised push payment fraud</a:t>
            </a:r>
          </a:p>
        </p:txBody>
      </p:sp>
    </p:spTree>
    <p:extLst>
      <p:ext uri="{BB962C8B-B14F-4D97-AF65-F5344CB8AC3E}">
        <p14:creationId xmlns:p14="http://schemas.microsoft.com/office/powerpoint/2010/main" val="1177023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607418c6c43f1"/>
          <a:stretch xmlns:a="http://schemas.openxmlformats.org/drawingml/2006/main"/>
        </p:blipFill>
        <p:spPr>
          <a:xfrm xmlns:a="http://schemas.openxmlformats.org/drawingml/2006/main">
            <a:off x="552450" y="3905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EB1F6-A662-4F73-A20A-0489F08D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SabiSafe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05958-73CE-4C02-B3F6-59A939B4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5D6478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18720-0E05-4DFB-9F41-FC200B01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74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A second opinion before the user 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64A13-D3C9-4A14-848D-89D28E8D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SabiSafe turns suspicious content into evidence and a safer next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BA079-F1B3-448E-9FC4-DD7FAB03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385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EB7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2E659-716B-4699-AF41-D4CA56E0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2247900" cy="247650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4AD99-5563-40EC-9607-7FB523B4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3B925-72BA-4593-AFE2-321D8A12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80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Submit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6A093-4B2F-4065-BF92-55F20AC4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Message, screenshot, link, call or payment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3500B-F96A-460F-951B-9F53B3C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385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EB7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78EB7-AC64-4C1F-B875-D690764D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43150"/>
            <a:ext cx="2247900" cy="247650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EC7AE-393D-4EB2-9A19-2D05D53A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717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FD41C-0A22-437B-ACD8-D501BB2D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480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6684A-C394-446D-9152-499A2A6C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528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Local detectors and live checks examine the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531B0-2E93-435C-801A-B3D3C4A1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EB7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1D1A2-0CEE-4A29-99F4-EFFEFE1F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2247900" cy="247650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55BDB-4CF5-4F40-BDC2-ACBF858A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B6C20-71D5-48E1-AA80-55702881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480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5E9FB-6659-4CF2-8C02-0F2569D3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528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English or Nigerian Pidgin shows what triggered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8D337-BAD7-4909-8199-D210B1FF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43150"/>
            <a:ext cx="2247900" cy="247650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2E07F6-6B88-4C87-A09D-D2934764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717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12843-A2D7-4CEA-ABC6-F382B2E3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480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4C5052-5C72-41EF-82D9-F68A2FA0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528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7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Verify independently, stop payment or preserve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5EFD1F-219D-4711-9E19-8AF64B64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820400" cy="704850"/>
          </a:xfrm>
          <a:prstGeom xmlns:a="http://schemas.openxmlformats.org/drawingml/2006/main" prst="roundRect">
            <a:avLst>
              <a:gd name="adj" fmla="val 27027"/>
            </a:avLst>
          </a:prstGeom>
          <a:solidFill xmlns:a="http://schemas.openxmlformats.org/drawingml/2006/main">
            <a:srgbClr val="090E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57E9ED-0F43-4073-9B17-9CA5692C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197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user gets a clear reason for the warning, not a black-box verdict.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77E3F-D7E7-4F70-B14A-92501635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211440-BB13-4855-BCEB-A42E4AB2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193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B8193"/>
                </a:solidFill>
                <a:latin typeface="Inter"/>
                <a:ea typeface="Inter"/>
                <a:cs typeface="Inter"/>
              </a:rPr>
              <a:t>The same flow works across the installable mobile PWA and the desktop experience.</a:t>
            </a:r>
          </a:p>
        </p:txBody>
      </p:sp>
    </p:spTree>
    <p:extLst>
      <p:ext uri="{BB962C8B-B14F-4D97-AF65-F5344CB8AC3E}">
        <p14:creationId xmlns:p14="http://schemas.microsoft.com/office/powerpoint/2010/main" val="17548843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183f1aeda49c3"/>
          <a:stretch xmlns:a="http://schemas.openxmlformats.org/drawingml/2006/main"/>
        </p:blipFill>
        <p:spPr>
          <a:xfrm xmlns:a="http://schemas.openxmlformats.org/drawingml/2006/main">
            <a:off x="552450" y="3905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6C45C-2B46-4A78-8940-FFF4DBBE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SabiSafe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293B1-9B72-4510-8D60-669C58D8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5D6478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380DD-D317-49E1-AA5C-712D233D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74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One app covers five common scam surfaces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3271E-0123-4D86-B7B9-9243A14D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Each guard shares the same evidence model and explanation layer.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A3DFB-1D3C-4036-BDB1-10CAF9ED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3371850" cy="14859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5FB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1D5A6-8096-45D6-A7A8-671FD382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4762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43E63-93E4-454A-9650-6DC19360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4CF10-A0B8-4181-80B0-347DB2EC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Message Guard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B6470-DBBD-4277-8F45-4D129B7E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Detects urgency, threats, sensitive-data requests and impersonation.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501C0-F0FC-43A3-968C-4E0969ED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3371850" cy="14859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5FB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A400D-E75A-4A2B-B8B9-6A3687C3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47925"/>
            <a:ext cx="4762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6B136-F764-4809-A9AE-8FC20B3D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622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CA8D6-CD76-40AD-948F-3DD23BB2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Screenshot 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A1336-DE26-4809-AEF2-0A2D0EB7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57525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Extracts editable text locally before analysis.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BDD2B-9E60-4819-A890-856056EB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38375"/>
            <a:ext cx="3371850" cy="14859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C9C8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83C72-DA59-4ADA-809C-F3EED7C5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47925"/>
            <a:ext cx="4762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5569E8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00465-1B43-480F-BEEF-F8DFF936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622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6B94D-6BE1-4C1C-8E13-C7EA01EA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765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Link Guard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4F084-4096-4ECD-9403-757F0126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57525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Checks domain structure, claimed identity and live destination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DEF29-F1C3-474B-B341-068EAA89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5210175" cy="14859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5FB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A4C4EE-5965-49D3-AEE4-A5062798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762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E50D2-A612-440B-881B-30559B3A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2056C-B00F-40F6-84BA-6541D3F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5292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Call Guard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F193CC-F9AA-4AFD-8444-9C4342A6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4752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Transcribes recorded calls locally and flags dangerous moments.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8A3A2F-C861-4C62-89F1-903CA70B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14800"/>
            <a:ext cx="5210175" cy="14859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5FB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C58CAE-A8C0-4C34-8413-938D495E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24350"/>
            <a:ext cx="4762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69CF16-48B9-421D-B087-2E7BC526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38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67EB8-EC3A-4CA2-9A25-11DD29DC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35292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Payment Guard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F67321-2803-42A3-B220-A3A3D37B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33950"/>
            <a:ext cx="4752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Tests receipts and alerts for mismatch, pending status and pressure.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B7D156-CC98-43AE-A245-09C384AD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0D1DFA-79B6-42DD-AF41-1A4DF7FD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193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B8193"/>
                </a:solidFill>
                <a:latin typeface="Inter"/>
                <a:ea typeface="Inter"/>
                <a:cs typeface="Inter"/>
              </a:rPr>
              <a:t>Built with React, strict TypeScript, local OCR, local Whisper transcription and installable PWA support.</a:t>
            </a:r>
          </a:p>
        </p:txBody>
      </p:sp>
    </p:spTree>
    <p:extLst>
      <p:ext uri="{BB962C8B-B14F-4D97-AF65-F5344CB8AC3E}">
        <p14:creationId xmlns:p14="http://schemas.microsoft.com/office/powerpoint/2010/main" val="1224587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69dc6d73c4aaa"/>
          <a:stretch xmlns:a="http://schemas.openxmlformats.org/drawingml/2006/main"/>
        </p:blipFill>
        <p:spPr>
          <a:xfrm xmlns:a="http://schemas.openxmlformats.org/drawingml/2006/main">
            <a:off x="552450" y="3905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1C766-F7BF-4CB9-9CE5-15759DF9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SabiSafe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6A2DB-2C73-489F-97AB-6C9D4780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AEB8E9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AEB8E9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B8786-9D22-49EA-A191-9D1F785F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83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Evidence-first analysis makes every warning explainable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65541-ED00-43A2-8D89-A8861A66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290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5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51706-8817-4E3D-9200-5A2CA892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400300" cy="26098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D45"/>
          </a:solidFill>
          <a:ln xmlns:a="http://schemas.openxmlformats.org/drawingml/2006/main" w="9525">
            <a:solidFill>
              <a:srgbClr val="2C37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7A9F6-1606-4AAC-BDF8-CCC43BAC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292D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8292DF"/>
                </a:solidFill>
                <a:latin typeface="Inter"/>
                <a:ea typeface="Inter"/>
                <a:cs typeface="Inter"/>
              </a:rPr>
              <a:t>DETECT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CA98C-1B61-4B09-A0D4-7714D8DF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885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Message language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URL structure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Payment signals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FA75E-40CE-44AE-9CEB-D0E5D329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5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60BD8-BEE6-48E0-B4D9-2B8D6EA9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05050"/>
            <a:ext cx="2400300" cy="26098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83463"/>
          </a:solidFill>
          <a:ln xmlns:a="http://schemas.openxmlformats.org/drawingml/2006/main" w="9525">
            <a:solidFill>
              <a:srgbClr val="7386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39521-AEFF-4240-9F15-A6C48372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622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FC0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AFC0FF"/>
                </a:solidFill>
                <a:latin typeface="Inter"/>
                <a:ea typeface="Inter"/>
                <a:cs typeface="Inter"/>
              </a:rPr>
              <a:t>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F63F1-8C47-403C-B6A2-CF78D46F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14675"/>
            <a:ext cx="1885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Explicit points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Tactic combinations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820F6-97CE-4FF0-BA90-F8EAB382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84E87-E1C5-4BAE-B773-D9B320F8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2400300" cy="26098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D45"/>
          </a:solidFill>
          <a:ln xmlns:a="http://schemas.openxmlformats.org/drawingml/2006/main" w="9525">
            <a:solidFill>
              <a:srgbClr val="2C37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54C5F-2B4E-4AE7-BF35-316C04CE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622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292D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8292DF"/>
                </a:solidFill>
                <a:latin typeface="Inter"/>
                <a:ea typeface="Inter"/>
                <a:cs typeface="Inter"/>
              </a:rPr>
              <a:t>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ABAF4-7F6B-4C65-8B01-6FECD574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14675"/>
            <a:ext cx="1885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3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Risk score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Highlighted evidence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English or Pidgin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4173E-7406-4D15-A982-E09CB233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05050"/>
            <a:ext cx="2400300" cy="26098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D45"/>
          </a:solidFill>
          <a:ln xmlns:a="http://schemas.openxmlformats.org/drawingml/2006/main" w="9525">
            <a:solidFill>
              <a:srgbClr val="2C37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B5D86-1B4E-4D05-AC44-01714BE8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622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292D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8292DF"/>
                </a:solidFill>
                <a:latin typeface="Inter"/>
                <a:ea typeface="Inter"/>
                <a:cs typeface="Inter"/>
              </a:rPr>
              <a:t>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576F3-9E7C-4196-8E99-365A5262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14675"/>
            <a:ext cx="1885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8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Verify independently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Preserve evidence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Report safely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7D2F0-D839-41EE-B7DC-7A0E3EEC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7CFF2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C7CFF2"/>
                </a:solidFill>
                <a:latin typeface="Inter"/>
                <a:ea typeface="Inter"/>
                <a:cs typeface="Inter"/>
              </a:rPr>
              <a:t>Policy version and point contributions stay attached to the result for testing and audit.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1F7BD-687B-441A-A2F9-926638FD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DCCD6-81DE-451B-8CDF-D4FB6B47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98C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8E98C8"/>
                </a:solidFill>
                <a:latin typeface="Inter"/>
                <a:ea typeface="Inter"/>
                <a:cs typeface="Inter"/>
              </a:rPr>
              <a:t>Rules remain testable today; measured evaluation and calibrated models form the next technical milestone.</a:t>
            </a:r>
          </a:p>
        </p:txBody>
      </p:sp>
    </p:spTree>
    <p:extLst>
      <p:ext uri="{BB962C8B-B14F-4D97-AF65-F5344CB8AC3E}">
        <p14:creationId xmlns:p14="http://schemas.microsoft.com/office/powerpoint/2010/main" val="9152901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4bcbec988402a"/>
          <a:stretch xmlns:a="http://schemas.openxmlformats.org/drawingml/2006/main"/>
        </p:blipFill>
        <p:spPr>
          <a:xfrm xmlns:a="http://schemas.openxmlformats.org/drawingml/2006/main">
            <a:off x="552450" y="3905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D799D-4DAA-401D-92F1-73A850B2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SabiSafe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33F08-05BE-476A-A0DC-F45B4617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5D6478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F5419-247D-4640-B2AC-55EBF98C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74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Link Guard now checks the destination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E514A-100A-4216-AC47-79E7A90F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The impersonated company helps when known, but the field remains optional.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DD287-6522-444B-82AF-167AB621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1947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B2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42175-D173-449D-ADF9-03D7B483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105150" cy="25908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5F5FB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F3787-C1AA-472A-9900-24E502C4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33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USER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74C40-4290-43CA-BA2D-A4712F95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19425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Suspicious 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BDD44-CA47-490D-9704-23A5BDB4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4807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69CF9-0AF7-4A0B-AEED-86A1553F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766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Optional claimed organisation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D70E3-1874-4A98-8CC1-012BFEBE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1947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9B2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D098F-B04D-4E10-8565-F4F7B050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76475"/>
            <a:ext cx="3105150" cy="25908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5F5FB"/>
          </a:solidFill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E87B5-BA22-43CB-8D8A-94DE74EA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33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LOCAL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E31A7-AB4C-4555-9A81-FD25DEA7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19425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Lookalike domain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3472E-1862-43F4-A196-3706D7F0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4807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4673E-CADB-49CC-B377-6C600F59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766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Shortener, IP and HTTP signals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44293-3174-473F-8BC5-78431EE1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76475"/>
            <a:ext cx="3105150" cy="25908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B9B9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528CD-2EFD-463A-8D3F-B8A6C678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533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LIVE INSPECTION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7D37E-174B-4D95-884A-A5EE9677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19425"/>
            <a:ext cx="2609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6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Redirects and final 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E5FF1-5EDB-4D29-B747-9FC5B43F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648075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5D3B0-42C7-43AC-8C0A-8644449C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876675"/>
            <a:ext cx="2609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HTTPS, page identity and reputation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80755-BD8B-4482-A60A-955E2EDF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6108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80C06-1280-4B3C-9D6B-44C07D86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006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F2F3E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8F2F3E"/>
                </a:solidFill>
                <a:latin typeface="Inter"/>
                <a:ea typeface="Inter"/>
                <a:cs typeface="Inter"/>
              </a:rPr>
              <a:t>Safety rule: a clean lookup is one signal. Users still confirm important links through the official app or website.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7B6FF-77E1-4C58-8FBF-916C6C36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A0E8D5-4955-4C35-B8DE-AE3BD501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193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B8193"/>
                </a:solidFill>
                <a:latin typeface="Inter"/>
                <a:ea typeface="Inter"/>
                <a:cs typeface="Inter"/>
              </a:rPr>
              <a:t>The server inspector blocks private-network targets, limits redirects and does not execute destination JavaScript.</a:t>
            </a:r>
          </a:p>
        </p:txBody>
      </p:sp>
    </p:spTree>
    <p:extLst>
      <p:ext uri="{BB962C8B-B14F-4D97-AF65-F5344CB8AC3E}">
        <p14:creationId xmlns:p14="http://schemas.microsoft.com/office/powerpoint/2010/main" val="706169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6d60df9d5421e"/>
          <a:stretch xmlns:a="http://schemas.openxmlformats.org/drawingml/2006/main"/>
        </p:blipFill>
        <p:spPr>
          <a:xfrm xmlns:a="http://schemas.openxmlformats.org/drawingml/2006/main">
            <a:off x="552450" y="3905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366BD-7CF6-48D1-9097-B9BEF676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SabiSafe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42D0A-E39D-4ED4-811A-EF9A97E2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5D6478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90C5C-55CF-4FC6-BE3A-64E636CA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745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The product works today. The next release proves it at pilot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03392-266D-40F2-8132-68B22703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00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76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68764"/>
                </a:solidFill>
                <a:latin typeface="Inter"/>
                <a:ea typeface="Inter"/>
                <a:cs typeface="Inter"/>
              </a:rPr>
              <a:t>BUILT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D1DF9-0F19-46FC-85EA-490054B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465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D8465B"/>
                </a:solidFill>
                <a:latin typeface="Inter"/>
                <a:ea typeface="Inter"/>
                <a:cs typeface="Inter"/>
              </a:rPr>
              <a:t>PILOT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9C6B4-4934-43BC-92EC-A3EF9295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4953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FFAD9-C8B6-4270-94FA-7BD74D7D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D4038-7EBA-478D-B60E-CAB5B48F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62250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2847B-FB40-4A24-8EC2-96265971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717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Installable mobile-first PWA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01B32-2025-47B9-815E-C9110974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4953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58349-72C0-454C-A6B4-E5CA7F4C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8137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429B2-4DE7-451C-9F25-04D20B15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6232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E4A90-4A07-4B55-875E-725F928F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718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Five evidence analysis guards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7E00D-0E74-465F-B7BA-FAB71888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953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0D901-C00B-4D96-B172-83487E37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814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6AC80-D4DA-4A8F-97CD-C29BB973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62400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F4362-5039-4B2F-9213-CE2FD26E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719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English and Nigerian Pidgin explanations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BA1BB-49D5-40E3-AF07-7EF676E2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4953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5EBFD-3664-4903-968C-9F911974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815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03CB4-AB1C-4B4D-A24D-AEDCDB6A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62475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D5F030-5FDD-4C3B-8468-62599D53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720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Optional accounts with synced history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2BF85-503E-4520-BFBD-CD7EE1D9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4953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16577F-6A86-49CC-83DA-6C120E74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816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9A6164-E9EF-4B17-8E7C-C7441A15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62550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CADD6-1877-45C0-8E20-E4110E9D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720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Downloadable and printable evidence reports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282E0F-ACED-4C20-BF1A-1CD8E34D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47950"/>
            <a:ext cx="4953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D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32957C-0EF1-4CDC-8EE1-F3185F1D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717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465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D8465B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632EA-15C2-4468-8C44-7FE7E396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717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Labelled Nigerian evaluation dataset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BFDB96-E31C-4A72-A276-4AFBCF3C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48025"/>
            <a:ext cx="4953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D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EAC412-ED11-43F8-91CB-83D26E04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71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465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D8465B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43785A-F62A-49B1-9E7A-04DA9230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71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Measured precision and false-positive 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B97611-C486-4BBC-B48A-98A5EFAB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48100"/>
            <a:ext cx="4953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D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19702F-FD76-4237-95C1-71B14125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719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465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D8465B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5B0B7C-E17F-48DC-B879-A8B80F17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719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Privacy, retention and consent controls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8A21D5-9F9B-4C18-B187-C44E690B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48175"/>
            <a:ext cx="4953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D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E58CB3-9E41-4957-8648-0ED53AF3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572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465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D8465B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371E72-B8A3-4544-80A6-0B78A6C5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72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Institutional reporting integration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41F8F9-133F-4AC1-924B-2E67DC2C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48250"/>
            <a:ext cx="4953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DD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D8F9A1-9459-4A60-9074-96946D62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1720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465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D8465B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96B08A-00A3-4DCA-9B72-6545B1A5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720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Operational monitoring and incident response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741BDE-CEDA-441D-8C60-A1B0EE62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7D2FFB-CB91-481F-813A-5A9882D3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193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B8193"/>
                </a:solidFill>
                <a:latin typeface="Inter"/>
                <a:ea typeface="Inter"/>
                <a:cs typeface="Inter"/>
              </a:rPr>
              <a:t>Current status: controlled demonstration ready. Production claims begin only after the pilot gates pass.</a:t>
            </a:r>
          </a:p>
        </p:txBody>
      </p:sp>
    </p:spTree>
    <p:extLst>
      <p:ext uri="{BB962C8B-B14F-4D97-AF65-F5344CB8AC3E}">
        <p14:creationId xmlns:p14="http://schemas.microsoft.com/office/powerpoint/2010/main" val="12041363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c5c41307441bb"/>
          <a:stretch xmlns:a="http://schemas.openxmlformats.org/drawingml/2006/main"/>
        </p:blipFill>
        <p:spPr>
          <a:xfrm xmlns:a="http://schemas.openxmlformats.org/drawingml/2006/main">
            <a:off x="552450" y="3905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E4066-2161-4583-93BE-7C11CC96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SabiSafe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F3ADA-CBF4-4962-B87F-B82A0656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5D6478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9504D-B35E-4436-9ACF-BA277941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49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Institutional distribution lowers acquisition cost and builds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EB0CD-19C4-40BD-AB53-1A0CEA9A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6800850" cy="35242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90E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48E74-61B9-45E3-9E31-1D602E26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8E9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AEB8E9"/>
                </a:solidFill>
                <a:latin typeface="Inter"/>
                <a:ea typeface="Inter"/>
                <a:cs typeface="Inter"/>
              </a:rPr>
              <a:t>PRIMARY CHANNEL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AB28B-C9B8-470A-8EC3-5B2B082D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01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Banks, fintechs and telecom operators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595A6-86C4-4AB2-945C-4D38F576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561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DFFD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D9DFFD"/>
                </a:solidFill>
                <a:latin typeface="Inter"/>
                <a:ea typeface="Inter"/>
                <a:cs typeface="Inter"/>
              </a:rPr>
              <a:t>They already own the customer relationship, fraud budget and support workflow. SabiSafe becomes a paid protection layer they can distribute and measure.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1F1E2-15CA-4319-9E5D-44CD0795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76825"/>
            <a:ext cx="40481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627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84BB5-A3CA-4C3C-A42C-A2AD49F1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72075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Revenue: paid pilot, annual licence and usage expansion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1C67E-F2E7-4D50-A9C3-2AFEC2C5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SECONDARY CHANNEL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EDDF4-4DFA-4620-95FA-BF545887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765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Paid family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0E171-53E5-48EB-A926-8366B328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707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One subscription protects up to five people. The buyer may be protecting parents, children or a less technical relative.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02A2F-3B3B-4001-9717-6605236D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319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FFC69-D07F-4CF1-B0FA-8A417D7C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4BC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394BC4"/>
                </a:solidFill>
                <a:latin typeface="Inter"/>
                <a:ea typeface="Inter"/>
                <a:cs typeface="Inter"/>
              </a:rPr>
              <a:t>Direct subscriptions validate willingness to pay while institutions provide scale.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BEB00-B206-40F2-871D-0DD57F85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6A460-9468-403F-A75E-A3A606C0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193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B8193"/>
                </a:solidFill>
                <a:latin typeface="Inter"/>
                <a:ea typeface="Inter"/>
                <a:cs typeface="Inter"/>
              </a:rPr>
              <a:t>No mass-market free tier. Every active account is paid by the household or a sponsoring institution.</a:t>
            </a:r>
          </a:p>
        </p:txBody>
      </p:sp>
    </p:spTree>
    <p:extLst>
      <p:ext uri="{BB962C8B-B14F-4D97-AF65-F5344CB8AC3E}">
        <p14:creationId xmlns:p14="http://schemas.microsoft.com/office/powerpoint/2010/main" val="15547485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267c2d1b04c5c"/>
          <a:stretch xmlns:a="http://schemas.openxmlformats.org/drawingml/2006/main"/>
        </p:blipFill>
        <p:spPr>
          <a:xfrm xmlns:a="http://schemas.openxmlformats.org/drawingml/2006/main">
            <a:off x="552450" y="3905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C36A5-2755-492C-9C9E-C97FCFF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SabiSafe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C215E-EE70-4EBD-9A66-99E5C552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5D6478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EB391-59DB-474E-BBDB-44F54630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74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Paid business model from day 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FC9BB-2B1A-4059-9DB5-75B47ACB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Pricing combines implementation revenue, recurring contracts and usage expansion.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2143125"/>
          <a:ext xmlns:a="http://schemas.openxmlformats.org/drawingml/2006/main" cx="11049000" cy="3352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2381250"/>
                <a:gridCol w="1809750"/>
                <a:gridCol w="5048250"/>
              </a:tblGrid>
              <a:tr h="558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Offer</a:t>
                      </a:r>
                    </a:p>
                  </a:txBody>
                  <a:tcPr marL="133350" marR="133350" marT="76200" marB="76200">
                    <a:solidFill>
                      <a:srgbClr val="090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Price assumption</a:t>
                      </a:r>
                    </a:p>
                  </a:txBody>
                  <a:tcPr marL="133350" marR="133350" marT="76200" marB="76200">
                    <a:solidFill>
                      <a:srgbClr val="090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Buyer</a:t>
                      </a:r>
                    </a:p>
                  </a:txBody>
                  <a:tcPr marL="133350" marR="133350" marT="76200" marB="76200">
                    <a:solidFill>
                      <a:srgbClr val="090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Commercial purpose</a:t>
                      </a:r>
                    </a:p>
                  </a:txBody>
                  <a:tcPr marL="133350" marR="133350" marT="76200" marB="76200">
                    <a:solidFill>
                      <a:srgbClr val="090E2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94BC4"/>
                          </a:solidFill>
                          <a:latin typeface="Inter"/>
                          <a:ea typeface="Inter"/>
                          <a:cs typeface="Inter"/>
                        </a:rPr>
                        <a:t>Paid pilot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₦3m / 90 days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Institution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Controlled rollout and baseline evaluation</a:t>
                      </a:r>
                    </a:p>
                  </a:txBody>
                  <a:tcPr marL="133350" marR="133350" marT="66675" marB="66675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94BC4"/>
                          </a:solidFill>
                          <a:latin typeface="Inter"/>
                          <a:ea typeface="Inter"/>
                          <a:cs typeface="Inter"/>
                        </a:rPr>
                        <a:t>Annual licence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₦18m / year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Institution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Partner access, reporting and support</a:t>
                      </a:r>
                    </a:p>
                  </a:txBody>
                  <a:tcPr marL="133350" marR="133350" marT="66675" marB="66675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94BC4"/>
                          </a:solidFill>
                          <a:latin typeface="Inter"/>
                          <a:ea typeface="Inter"/>
                          <a:cs typeface="Inter"/>
                        </a:rPr>
                        <a:t>Usage expansion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₦30 / active user / month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Institution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Revenue scales with protected users</a:t>
                      </a:r>
                    </a:p>
                  </a:txBody>
                  <a:tcPr marL="133350" marR="133350" marT="66675" marB="66675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94BC4"/>
                          </a:solidFill>
                          <a:latin typeface="Inter"/>
                          <a:ea typeface="Inter"/>
                          <a:cs typeface="Inter"/>
                        </a:rPr>
                        <a:t>Family plan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₦1,500 / month</a:t>
                      </a:r>
                    </a:p>
                    <a:p>
                      <a:r>
                        <a:rPr sz="1125" b="1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₦15,000 / year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Household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Up to five protected family members</a:t>
                      </a:r>
                    </a:p>
                  </a:txBody>
                  <a:tcPr marL="133350" marR="133350" marT="66675" marB="66675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94BC4"/>
                          </a:solidFill>
                          <a:latin typeface="Inter"/>
                          <a:ea typeface="Inter"/>
                          <a:cs typeface="Inter"/>
                        </a:rPr>
                        <a:t>Platform API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₦20 / check</a:t>
                      </a:r>
                    </a:p>
                    <a:p>
                      <a:r>
                        <a:rPr sz="1125" b="1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₦500k monthly minimum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Digital platform</a:t>
                      </a:r>
                    </a:p>
                  </a:txBody>
                  <a:tcPr marL="133350" marR="1333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162B"/>
                          </a:solidFill>
                          <a:latin typeface="Inter"/>
                          <a:ea typeface="Inter"/>
                          <a:cs typeface="Inter"/>
                        </a:rPr>
                        <a:t>Analysis inside partner products</a:t>
                      </a:r>
                    </a:p>
                  </a:txBody>
                  <a:tcPr marL="133350" marR="133350" marT="66675" marB="6667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AD17F-A1BE-4879-BCB4-50867C3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E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70530-7FC4-4E6C-B3F0-A7838BBF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4BC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394BC4"/>
                </a:solidFill>
                <a:latin typeface="Inter"/>
                <a:ea typeface="Inter"/>
                <a:cs typeface="Inter"/>
              </a:rPr>
              <a:t>No free tier. Demonstrations sit inside paid pilots. Households subscribe before storing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75F2D-9D85-4358-B9E4-26F1FDD0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A40BA-E732-420D-89C5-02A12CBE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193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B8193"/>
                </a:solidFill>
                <a:latin typeface="Inter"/>
                <a:ea typeface="Inter"/>
                <a:cs typeface="Inter"/>
              </a:rPr>
              <a:t>All prices are management assumptions for customer discovery and may change after pilot evidence.</a:t>
            </a:r>
          </a:p>
        </p:txBody>
      </p:sp>
    </p:spTree>
    <p:extLst>
      <p:ext uri="{BB962C8B-B14F-4D97-AF65-F5344CB8AC3E}">
        <p14:creationId xmlns:p14="http://schemas.microsoft.com/office/powerpoint/2010/main" val="2768596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322f7fbba4b34"/>
          <a:stretch xmlns:a="http://schemas.openxmlformats.org/drawingml/2006/main"/>
        </p:blipFill>
        <p:spPr>
          <a:xfrm xmlns:a="http://schemas.openxmlformats.org/drawingml/2006/main">
            <a:off x="552450" y="3905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526EC-EEF6-4E05-B111-CFC3DB8B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SabiSafe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B5BC8-AA19-45CA-A7C7-6DED7B3E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5D6478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A8C47-89AD-4C2A-A7B4-85A2B516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4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The model targets operating break-even in year two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DF55E-5A85-48EE-93A4-6819C039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Illustrative revenue plan in ₦ millions. This is a planning case, not a forecast.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23875" y="2171700"/>
          <a:ext xmlns:a="http://schemas.openxmlformats.org/drawingml/2006/main" cx="6762750" cy="3562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24a26e1f9e486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9D892-20D9-4D49-A592-0B92636A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574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REVENUE 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3D24D-4B04-4763-A87B-C8F7E1F5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765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YEAR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05E4D-4413-4AB0-AE01-5873206A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574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4 pilots + 2 licences + 1,000 family plans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1F1B2-E7B4-45E2-8688-0844FACB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YEAR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12D9F-CF8E-49A3-992F-F380C4F6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8 licences + 5,000 family plans + early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ADE44-0DD3-4E24-9725-62584BFF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33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69E8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5569E8"/>
                </a:solidFill>
                <a:latin typeface="Inter"/>
                <a:ea typeface="Inter"/>
                <a:cs typeface="Inter"/>
              </a:rPr>
              <a:t>YEAR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B1FBE-79CD-4363-B43A-E966944C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20 licences + 20,000 family plans + scaled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9EA20-C571-4EC1-9B91-804BA7BA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53025"/>
            <a:ext cx="358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D7B41-5738-4E92-AC48-8D9F905D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53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465B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D8465B"/>
                </a:solidFill>
                <a:latin typeface="Inter"/>
                <a:ea typeface="Inter"/>
                <a:cs typeface="Inter"/>
              </a:rPr>
              <a:t>Planning assumption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B07F1-68CA-4EA8-8EF4-53EF3AA5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29275"/>
            <a:ext cx="360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Break-even during Year 2 with controlled hiring and partner-led distribution.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32EA6-82FC-496C-8A88-892963FF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91091-D26C-491C-8AE0-79DC70F2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193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B8193"/>
                </a:solidFill>
                <a:latin typeface="Inter"/>
                <a:ea typeface="Inter"/>
                <a:cs typeface="Inter"/>
              </a:rPr>
              <a:t>Revenue assumptions: pilots ₦3m, licences ₦18m, family annual plan ₦15k, API minimum ₦500k per month.</a:t>
            </a:r>
          </a:p>
        </p:txBody>
      </p:sp>
    </p:spTree>
    <p:extLst>
      <p:ext uri="{BB962C8B-B14F-4D97-AF65-F5344CB8AC3E}">
        <p14:creationId xmlns:p14="http://schemas.microsoft.com/office/powerpoint/2010/main" val="7830921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5672504a04dda"/>
          <a:stretch xmlns:a="http://schemas.openxmlformats.org/drawingml/2006/main"/>
        </p:blipFill>
        <p:spPr>
          <a:xfrm xmlns:a="http://schemas.openxmlformats.org/drawingml/2006/main">
            <a:off x="552450" y="3905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8F940-A216-4ABA-96BA-FF8DDE80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SabiSafe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32A17-7337-4FB1-8402-F3CE6366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AEB8E9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AEB8E9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FE312-99ED-4833-9A6E-3C6B82E9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055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next 18 months turn the MVP into a defensible pilot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647E7-D2BB-49D3-8C3D-542A6259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3333750" cy="2628900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273464"/>
          </a:solidFill>
          <a:ln xmlns:a="http://schemas.openxmlformats.org/drawingml/2006/main" w="9525">
            <a:solidFill>
              <a:srgbClr val="6F8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3966A-0AA3-4A82-BEE5-CB93F6F5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03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AAEC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9DAAEC"/>
                </a:solidFill>
                <a:latin typeface="Inter"/>
                <a:ea typeface="Inter"/>
                <a:cs typeface="Inter"/>
              </a:rPr>
              <a:t>0–6 MONTHS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82AE1-D5D1-4593-9D48-9C4A8C59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90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Pilot 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83028-64CD-4CE3-95C7-88BA07AA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0042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FFD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9DFFD"/>
                </a:solidFill>
                <a:latin typeface="Inter"/>
                <a:ea typeface="Inter"/>
                <a:cs typeface="Inter"/>
              </a:rPr>
              <a:t>Evaluation dataset</a:t>
            </a:r>
          </a:p>
          <a:p xmlns:a="http://schemas.openxmlformats.org/drawingml/2006/main">
            <a:pPr algn="l">
              <a:defRPr sz="1350" b="0">
                <a:solidFill>
                  <a:srgbClr val="D9DFFD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9DFFD"/>
                </a:solidFill>
                <a:latin typeface="Inter"/>
                <a:ea typeface="Inter"/>
                <a:cs typeface="Inter"/>
              </a:rPr>
              <a:t>Privacy and retention controls</a:t>
            </a:r>
          </a:p>
          <a:p xmlns:a="http://schemas.openxmlformats.org/drawingml/2006/main">
            <a:pPr algn="l">
              <a:defRPr sz="1350" b="0">
                <a:solidFill>
                  <a:srgbClr val="D9DFFD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9DFFD"/>
                </a:solidFill>
                <a:latin typeface="Inter"/>
                <a:ea typeface="Inter"/>
                <a:cs typeface="Inter"/>
              </a:rPr>
              <a:t>Three paid design partners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409F7-94A3-4664-9228-99220615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33600"/>
            <a:ext cx="3333750" cy="2628900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151D45"/>
          </a:solidFill>
          <a:ln xmlns:a="http://schemas.openxmlformats.org/drawingml/2006/main" w="9525">
            <a:solidFill>
              <a:srgbClr val="2C37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C1AC4-E532-4C03-9968-8CFFF2F3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03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AAEC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9DAAEC"/>
                </a:solidFill>
                <a:latin typeface="Inter"/>
                <a:ea typeface="Inter"/>
                <a:cs typeface="Inter"/>
              </a:rPr>
              <a:t>6–12 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ABFA2-357A-45FE-AA99-59948E86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90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Conversion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E6234-3482-405B-A166-D76314AF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0042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FFD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9DFFD"/>
                </a:solidFill>
                <a:latin typeface="Inter"/>
                <a:ea typeface="Inter"/>
                <a:cs typeface="Inter"/>
              </a:rPr>
              <a:t>Institution reporting workflow</a:t>
            </a:r>
          </a:p>
          <a:p xmlns:a="http://schemas.openxmlformats.org/drawingml/2006/main">
            <a:pPr algn="l">
              <a:defRPr sz="1350" b="0">
                <a:solidFill>
                  <a:srgbClr val="D9DFFD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9DFFD"/>
                </a:solidFill>
                <a:latin typeface="Inter"/>
                <a:ea typeface="Inter"/>
                <a:cs typeface="Inter"/>
              </a:rPr>
              <a:t>Two annual contracts</a:t>
            </a:r>
          </a:p>
          <a:p xmlns:a="http://schemas.openxmlformats.org/drawingml/2006/main">
            <a:pPr algn="l">
              <a:defRPr sz="1350" b="0">
                <a:solidFill>
                  <a:srgbClr val="D9DFFD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9DFFD"/>
                </a:solidFill>
                <a:latin typeface="Inter"/>
                <a:ea typeface="Inter"/>
                <a:cs typeface="Inter"/>
              </a:rPr>
              <a:t>Paid family launch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DD41C-EF92-4971-9E67-3D8D2468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3333750" cy="2628900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151D45"/>
          </a:solidFill>
          <a:ln xmlns:a="http://schemas.openxmlformats.org/drawingml/2006/main" w="9525">
            <a:solidFill>
              <a:srgbClr val="2C37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A6768-1FCA-425A-B110-31BC10E2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003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AAEC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9DAAEC"/>
                </a:solidFill>
                <a:latin typeface="Inter"/>
                <a:ea typeface="Inter"/>
                <a:cs typeface="Inter"/>
              </a:rPr>
              <a:t>12–18 MONTHS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6062C-C6B1-4A6E-B141-3C419C23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90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Repeatability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D5673-BB62-4594-ABE3-116D6636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0042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FFD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9DFFD"/>
                </a:solidFill>
                <a:latin typeface="Inter"/>
                <a:ea typeface="Inter"/>
                <a:cs typeface="Inter"/>
              </a:rPr>
              <a:t>Partner distribution playbook</a:t>
            </a:r>
          </a:p>
          <a:p xmlns:a="http://schemas.openxmlformats.org/drawingml/2006/main">
            <a:pPr algn="l">
              <a:defRPr sz="1350" b="0">
                <a:solidFill>
                  <a:srgbClr val="D9DFFD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9DFFD"/>
                </a:solidFill>
                <a:latin typeface="Inter"/>
                <a:ea typeface="Inter"/>
                <a:cs typeface="Inter"/>
              </a:rPr>
              <a:t>Platform API</a:t>
            </a:r>
          </a:p>
          <a:p xmlns:a="http://schemas.openxmlformats.org/drawingml/2006/main">
            <a:pPr algn="l">
              <a:defRPr sz="1350" b="0">
                <a:solidFill>
                  <a:srgbClr val="D9DFFD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9DFFD"/>
                </a:solidFill>
                <a:latin typeface="Inter"/>
                <a:ea typeface="Inter"/>
                <a:cs typeface="Inter"/>
              </a:rPr>
              <a:t>Multilingual call strategy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ECEA9-E54B-4904-B88B-352CD66E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0668000" cy="904875"/>
          </a:xfrm>
          <a:prstGeom xmlns:a="http://schemas.openxmlformats.org/drawingml/2006/main" prst="roundRect">
            <a:avLst>
              <a:gd name="adj" fmla="val 2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AC72A-B4B4-451B-9B72-8B126926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94BC4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94BC4"/>
                </a:solidFill>
                <a:latin typeface="Inter"/>
                <a:ea typeface="Inter"/>
                <a:cs typeface="Inter"/>
              </a:rPr>
              <a:t>Immediate 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F45D8-D4D6-4252-B660-6FDD37AB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95900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49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62B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3162B"/>
                </a:solidFill>
                <a:latin typeface="Inter"/>
                <a:ea typeface="Inter"/>
                <a:cs typeface="Inter"/>
              </a:rPr>
              <a:t>₦120m pre-seed planning target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39A8DB-2FEB-4CBB-ABCA-7FB81F2C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24475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94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5D6478"/>
                </a:solidFill>
                <a:latin typeface="Inter"/>
                <a:ea typeface="Inter"/>
                <a:cs typeface="Inter"/>
              </a:rPr>
              <a:t>plus 3 paid pilot partners and one threat-data partner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9D6DB-CFEF-44AE-A8E6-16645EE4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626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478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D6478"/>
                </a:solidFill>
                <a:latin typeface="Inter"/>
                <a:ea typeface="Inter"/>
                <a:cs typeface="Inter"/>
              </a:rPr>
              <a:t>Proposed use: 45% product and detection, 25% security and compliance, 20% pilot delivery, 10% operations.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A7DC8-C257-4BAB-AA6C-54984BA9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213FB9-D312-492D-91CB-59E188F6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98C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8E98C8"/>
                </a:solidFill>
                <a:latin typeface="Inter"/>
                <a:ea typeface="Inter"/>
                <a:cs typeface="Inter"/>
              </a:rPr>
              <a:t>Fundraising amount and milestones are planning assumptions for discussion.</a:t>
            </a:r>
          </a:p>
        </p:txBody>
      </p:sp>
    </p:spTree>
    <p:extLst>
      <p:ext uri="{BB962C8B-B14F-4D97-AF65-F5344CB8AC3E}">
        <p14:creationId xmlns:p14="http://schemas.microsoft.com/office/powerpoint/2010/main" val="1378649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2026-09-30T11:33:47.0060000Z</dcterms:created>
  <dcterms:modified xsi:type="dcterms:W3CDTF">2026-09-30T11:33:47.0060000Z</dcterms:modified>
</coreProperties>
</file>